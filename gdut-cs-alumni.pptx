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id="2147483649" r:id="rId42"/>
  </p:notesMaster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"1.0" encoding="UTF-8" standalone="yes"?>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"1.0" encoding="UTF-8" standalone="yes"?>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"1.0" encoding="UTF-8" standalone="yes"?>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"1.0" encoding="UTF-8" standalone="yes"?>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"1.0" encoding="UTF-8" standalone="yes"?>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"1.0" encoding="UTF-8" standalone="yes"?>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"1.0" encoding="UTF-8" standalone="yes"?>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"1.0" encoding="UTF-8" standalone="yes"?>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8.xml.rels><?xml version="1.0" encoding="UTF-8" standalone="yes"?>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"1.0" encoding="UTF-8" standalone="yes"?>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"1.0" encoding="UTF-8" standalone="yes"?>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本片以学院官网、羊城晚报、中国科学报公开报道为据，人物按创业校友、优秀毕业生、竞赛科研、科研新星四类编排。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数据时点为 2026 年 10 月；学子风采人物页发布于 2020 年 8 月，部分职务此后可能变动。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“3+1”指石飏、卢梁司、郭敏哲三位在读本科生，以及已直博北大的王敬超。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公司2013年获国家高新技术企业；2021年当选学院校友分会会长。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“联基奖学金”含优秀学生、励志学生、优秀学科竞赛团队三类。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公司提供专业影音空间一体化解决方案，业务覆盖全国多座城市。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他以生态环境材料为主业，是计算机校友跨界创业的代表。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李志豪，2015届，资料来自学院官网“学子风采”人物页。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谢建群，2015届，资料来自学院官网“学子风采”人物页。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蔡开武，2016届，资料来自学院官网“学子风采”人物页。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曾泽洪，2018届，资料来自学院官网“学子风采”人物页。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方锐，2019届，资料来自学院官网“学子风采”人物页。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刘鹏飞，2016届，资料来自学院官网“学子风采”人物页。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陈泓鑫，2017届，资料来自学院官网“学子风采”人物页。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王淦颖，2017届，资料来自学院官网“学子风采”人物页。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梁钊，2016届，资料来自学院官网“学子风采”人物页。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冯俊华，2019届，资料来自学院官网“学子风采”人物页。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谢泳，2017届，资料来自学院官网“学子风采”人物页。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2025届学院共表彰27名本科、10名研究生优秀毕业生。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张斯力，2016级 · 2020届，在校期间竞赛与科研记录，来自学院官网“学子风采”。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张润鹏，2017级，在校期间竞赛与科研记录，来自学院官网“学子风采”。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吴政毅，2018级，在校期间竞赛与科研记录，来自学院官网“学子风采”。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刘基正，2017级，在校期间竞赛与科研记录，来自学院官网“学子风采”。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章世楠，2017级，在校期间竞赛与科研记录，来自学院官网“学子风采”。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李莹，2016级 · 2020届，在校期间竞赛与科研记录，来自学院官网“学子风采”。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胡成，2018级，在校期间竞赛与科研记录，来自学院官网“学子风采”。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林文琛，2018级，在校期间竞赛与科研记录，来自学院官网“学子风采”。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黄正婷，2018级，在校期间竞赛与科研记录，来自学院官网“学子风采”。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邓宇，2016级，在校期间竞赛与科研记录，来自学院官网“学子风采”。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郭旭，2016级，在校期间竞赛与科研记录，来自学院官网“学子风采”。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郭鹏燕，2016级，在校期间竞赛与科研记录，来自学院官网“学子风采”。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吴恒鑫，2017级，在校期间竞赛与科研记录，来自学院官网“学子风采”。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钟梓东，2016级，在校期间竞赛与科研记录，来自学院官网“学子风采”。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卢梁司为数学与统计学院2023级本科生；石飏、郭敏哲均为计算机学院本科生。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王敬超是这篇CVPR论文的五作，也是石飏的科研引路人；学院每年本科生顶会论文已有10余篇。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如需扩页，可补充2026届优秀毕业生名单（学院以图片发布）与更多校友企业案例。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marL="342900" indent="-342900">
        <a:defRPr sz="2000">
          <a:solidFill>
            <a:srgbClr val="E8F1FF"/>
          </a:solidFill>
          <a:latin typeface="Segoe UI"/>
          <a:ea typeface="Microsoft YaHei"/>
        </a:defRPr>
      </a:lvl1pPr>
      <a:lvl2pPr marL="685800" indent="-342900">
        <a:defRPr sz="1900">
          <a:solidFill>
            <a:srgbClr val="E8F1FF"/>
          </a:solidFill>
          <a:latin typeface="Segoe UI"/>
          <a:ea typeface="Microsoft YaHei"/>
        </a:defRPr>
      </a:lvl2pPr>
      <a:lvl3pPr marL="1028700" indent="-342900">
        <a:defRPr sz="1800">
          <a:solidFill>
            <a:srgbClr val="E8F1FF"/>
          </a:solidFill>
          <a:latin typeface="Segoe UI"/>
          <a:ea typeface="Microsoft YaHei"/>
        </a:defRPr>
      </a:lvl3pPr>
      <a:lvl4pPr marL="1371600" indent="-342900">
        <a:defRPr sz="1700">
          <a:solidFill>
            <a:srgbClr val="E8F1FF"/>
          </a:solidFill>
          <a:latin typeface="Segoe UI"/>
          <a:ea typeface="Microsoft YaHei"/>
        </a:defRPr>
      </a:lvl4pPr>
      <a:lvl5pPr marL="1714500" indent="-342900">
        <a:defRPr sz="1600">
          <a:solidFill>
            <a:srgbClr val="E8F1FF"/>
          </a:solidFill>
          <a:latin typeface="Segoe UI"/>
          <a:ea typeface="Microsoft YaHei"/>
        </a:defRPr>
      </a:lvl5pPr>
      <a:lvl6pPr marL="2057400" indent="-342900">
        <a:defRPr sz="1500">
          <a:solidFill>
            <a:srgbClr val="E8F1FF"/>
          </a:solidFill>
          <a:latin typeface="Segoe UI"/>
          <a:ea typeface="Microsoft YaHei"/>
        </a:defRPr>
      </a:lvl6pPr>
      <a:lvl7pPr marL="2400300" indent="-342900">
        <a:defRPr sz="1400">
          <a:solidFill>
            <a:srgbClr val="E8F1FF"/>
          </a:solidFill>
          <a:latin typeface="Segoe UI"/>
          <a:ea typeface="Microsoft YaHei"/>
        </a:defRPr>
      </a:lvl7pPr>
      <a:lvl8pPr marL="2743200" indent="-342900">
        <a:defRPr sz="1300">
          <a:solidFill>
            <a:srgbClr val="E8F1FF"/>
          </a:solidFill>
          <a:latin typeface="Segoe UI"/>
          <a:ea typeface="Microsoft YaHei"/>
        </a:defRPr>
      </a:lvl8pPr>
      <a:lvl9pPr marL="3086100" indent="-342900">
        <a:defRPr sz="1200">
          <a:solidFill>
            <a:srgbClr val="E8F1FF"/>
          </a:solidFill>
          <a:latin typeface="Segoe UI"/>
          <a:ea typeface="Microsoft YaHei"/>
        </a:defRPr>
      </a:lvl9pPr>
    </p:titleStyle>
    <p:bodyStyle>
      <a:lvl1pPr marL="342900" indent="-342900">
        <a:defRPr sz="2000">
          <a:solidFill>
            <a:srgbClr val="E8F1FF"/>
          </a:solidFill>
          <a:latin typeface="Segoe UI"/>
          <a:ea typeface="Microsoft YaHei"/>
        </a:defRPr>
      </a:lvl1pPr>
      <a:lvl2pPr marL="685800" indent="-342900">
        <a:defRPr sz="1900">
          <a:solidFill>
            <a:srgbClr val="E8F1FF"/>
          </a:solidFill>
          <a:latin typeface="Segoe UI"/>
          <a:ea typeface="Microsoft YaHei"/>
        </a:defRPr>
      </a:lvl2pPr>
      <a:lvl3pPr marL="1028700" indent="-342900">
        <a:defRPr sz="1800">
          <a:solidFill>
            <a:srgbClr val="E8F1FF"/>
          </a:solidFill>
          <a:latin typeface="Segoe UI"/>
          <a:ea typeface="Microsoft YaHei"/>
        </a:defRPr>
      </a:lvl3pPr>
      <a:lvl4pPr marL="1371600" indent="-342900">
        <a:defRPr sz="1700">
          <a:solidFill>
            <a:srgbClr val="E8F1FF"/>
          </a:solidFill>
          <a:latin typeface="Segoe UI"/>
          <a:ea typeface="Microsoft YaHei"/>
        </a:defRPr>
      </a:lvl4pPr>
      <a:lvl5pPr marL="1714500" indent="-342900">
        <a:defRPr sz="1600">
          <a:solidFill>
            <a:srgbClr val="E8F1FF"/>
          </a:solidFill>
          <a:latin typeface="Segoe UI"/>
          <a:ea typeface="Microsoft YaHei"/>
        </a:defRPr>
      </a:lvl5pPr>
      <a:lvl6pPr marL="2057400" indent="-342900">
        <a:defRPr sz="1500">
          <a:solidFill>
            <a:srgbClr val="E8F1FF"/>
          </a:solidFill>
          <a:latin typeface="Segoe UI"/>
          <a:ea typeface="Microsoft YaHei"/>
        </a:defRPr>
      </a:lvl6pPr>
      <a:lvl7pPr marL="2400300" indent="-342900">
        <a:defRPr sz="1400">
          <a:solidFill>
            <a:srgbClr val="E8F1FF"/>
          </a:solidFill>
          <a:latin typeface="Segoe UI"/>
          <a:ea typeface="Microsoft YaHei"/>
        </a:defRPr>
      </a:lvl7pPr>
      <a:lvl8pPr marL="2743200" indent="-342900">
        <a:defRPr sz="1300">
          <a:solidFill>
            <a:srgbClr val="E8F1FF"/>
          </a:solidFill>
          <a:latin typeface="Segoe UI"/>
          <a:ea typeface="Microsoft YaHei"/>
        </a:defRPr>
      </a:lvl8pPr>
      <a:lvl9pPr marL="3086100" indent="-342900">
        <a:defRPr sz="1200">
          <a:solidFill>
            <a:srgbClr val="E8F1FF"/>
          </a:solidFill>
          <a:latin typeface="Segoe UI"/>
          <a:ea typeface="Microsoft YaHei"/>
        </a:defRPr>
      </a:lvl9pPr>
    </p:bodyStyle>
    <p:otherStyle>
      <a:lvl1pPr marL="342900" indent="-342900">
        <a:defRPr sz="2000">
          <a:solidFill>
            <a:srgbClr val="E8F1FF"/>
          </a:solidFill>
          <a:latin typeface="Segoe UI"/>
          <a:ea typeface="Microsoft YaHei"/>
        </a:defRPr>
      </a:lvl1pPr>
      <a:lvl2pPr marL="685800" indent="-342900">
        <a:defRPr sz="1900">
          <a:solidFill>
            <a:srgbClr val="E8F1FF"/>
          </a:solidFill>
          <a:latin typeface="Segoe UI"/>
          <a:ea typeface="Microsoft YaHei"/>
        </a:defRPr>
      </a:lvl2pPr>
      <a:lvl3pPr marL="1028700" indent="-342900">
        <a:defRPr sz="1800">
          <a:solidFill>
            <a:srgbClr val="E8F1FF"/>
          </a:solidFill>
          <a:latin typeface="Segoe UI"/>
          <a:ea typeface="Microsoft YaHei"/>
        </a:defRPr>
      </a:lvl3pPr>
      <a:lvl4pPr marL="1371600" indent="-342900">
        <a:defRPr sz="1700">
          <a:solidFill>
            <a:srgbClr val="E8F1FF"/>
          </a:solidFill>
          <a:latin typeface="Segoe UI"/>
          <a:ea typeface="Microsoft YaHei"/>
        </a:defRPr>
      </a:lvl4pPr>
      <a:lvl5pPr marL="1714500" indent="-342900">
        <a:defRPr sz="1600">
          <a:solidFill>
            <a:srgbClr val="E8F1FF"/>
          </a:solidFill>
          <a:latin typeface="Segoe UI"/>
          <a:ea typeface="Microsoft YaHei"/>
        </a:defRPr>
      </a:lvl5pPr>
      <a:lvl6pPr marL="2057400" indent="-342900">
        <a:defRPr sz="1500">
          <a:solidFill>
            <a:srgbClr val="E8F1FF"/>
          </a:solidFill>
          <a:latin typeface="Segoe UI"/>
          <a:ea typeface="Microsoft YaHei"/>
        </a:defRPr>
      </a:lvl6pPr>
      <a:lvl7pPr marL="2400300" indent="-342900">
        <a:defRPr sz="1400">
          <a:solidFill>
            <a:srgbClr val="E8F1FF"/>
          </a:solidFill>
          <a:latin typeface="Segoe UI"/>
          <a:ea typeface="Microsoft YaHei"/>
        </a:defRPr>
      </a:lvl7pPr>
      <a:lvl8pPr marL="2743200" indent="-342900">
        <a:defRPr sz="1300">
          <a:solidFill>
            <a:srgbClr val="E8F1FF"/>
          </a:solidFill>
          <a:latin typeface="Segoe UI"/>
          <a:ea typeface="Microsoft YaHei"/>
        </a:defRPr>
      </a:lvl8pPr>
      <a:lvl9pPr marL="3086100" indent="-342900">
        <a:defRPr sz="1200">
          <a:solidFill>
            <a:srgbClr val="E8F1FF"/>
          </a:solidFill>
          <a:latin typeface="Segoe UI"/>
          <a:ea typeface="Microsoft YaHei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jp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jp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jp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jp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jp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jp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jp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jp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jp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jp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jp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jp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jp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jp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jp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3.jp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jp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5.jp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6.jp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7.jp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8.jp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9.jp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0.jp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1.jpg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2.jpg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ccent bar"/>
          <p:cNvSpPr/>
          <p:nvPr/>
        </p:nvSpPr>
        <p:spPr>
          <a:xfrm>
            <a:off x="914400" y="2250000"/>
            <a:ext cx="240000" cy="16000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/>
        </p:txBody>
      </p:sp>
      <p:sp>
        <p:nvSpPr>
          <p:cNvPr id="12" name="Title"/>
          <p:cNvSpPr txBox="1"/>
          <p:nvPr/>
        </p:nvSpPr>
        <p:spPr>
          <a:xfrm>
            <a:off x="1550000" y="2160000"/>
            <a:ext cx="9250000" cy="1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4400" b="1" dirty="0">
                <a:solidFill>
                  <a:srgbClr val="E8F1FF"/>
                </a:solidFill>
                <a:latin typeface="Segoe UI"/>
                <a:ea typeface="Microsoft YaHei"/>
              </a:rPr>
              <a:t>优秀毕业生风采</a:t>
            </a:r>
          </a:p>
        </p:txBody>
      </p:sp>
      <p:sp>
        <p:nvSpPr>
          <p:cNvPr id="13" name="Subtitle"/>
          <p:cNvSpPr txBox="1"/>
          <p:nvPr/>
        </p:nvSpPr>
        <p:spPr>
          <a:xfrm>
            <a:off x="1570000" y="4150000"/>
            <a:ext cx="9000000" cy="12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2200" b="0" dirty="0">
                <a:solidFill>
                  <a:srgbClr val="7E8BA8"/>
                </a:solidFill>
                <a:latin typeface="Segoe UI"/>
                <a:ea typeface="Microsoft YaHei"/>
              </a:rPr>
              <a:t>34 位校友与学子：从机房代码到产业与顶会</a:t>
            </a:r>
          </a:p>
        </p:txBody>
      </p:sp>
      <p:sp>
        <p:nvSpPr>
          <p:cNvPr id="14" name="Kicker"/>
          <p:cNvSpPr txBox="1"/>
          <p:nvPr/>
        </p:nvSpPr>
        <p:spPr>
          <a:xfrm>
            <a:off x="1570000" y="5800000"/>
            <a:ext cx="7000000" cy="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7C3AED"/>
                </a:solidFill>
                <a:latin typeface="Segoe UI"/>
                <a:ea typeface="Microsoft YaHei"/>
              </a:rPr>
              <a:t>广东工业大学计算机学院 · 2026.10</a:t>
            </a:r>
          </a:p>
        </p:txBody>
      </p:sp>
      <p:sp>
        <p:nvSpPr>
          <p:cNvPr id="1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01 / 40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Kicker"/>
          <p:cNvSpPr txBox="1"/>
          <p:nvPr/>
        </p:nvSpPr>
        <p:spPr>
          <a:xfrm>
            <a:off x="900000" y="420000"/>
            <a:ext cx="10000000" cy="42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7C3AED"/>
                </a:solidFill>
                <a:latin typeface="Segoe UI"/>
                <a:ea typeface="Microsoft YaHei"/>
              </a:rPr>
              <a:t>口径说明</a:t>
            </a:r>
          </a:p>
        </p:txBody>
      </p:sp>
      <p:sp>
        <p:nvSpPr>
          <p:cNvPr id="2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只收录可核实的公开案例</a:t>
            </a:r>
          </a:p>
        </p:txBody>
      </p:sp>
      <p:sp>
        <p:nvSpPr>
          <p:cNvPr id="23" name="Body"/>
          <p:cNvSpPr txBox="1"/>
          <p:nvPr/>
        </p:nvSpPr>
        <p:spPr>
          <a:xfrm>
            <a:off x="1050000" y="1850000"/>
            <a:ext cx="10100000" cy="4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官网“学子风采”收录 25 位毕业生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校友走访与奖助学金新闻补充创业者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CVPR 2026 报道补充在读本科生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原文未披露的届别标注“未公开”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不推测职务，不补写未公开成果</a:t>
            </a:r>
          </a:p>
        </p:txBody>
      </p:sp>
      <p:sp>
        <p:nvSpPr>
          <p:cNvPr id="2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02 / 40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Kicker"/>
          <p:cNvSpPr txBox="1"/>
          <p:nvPr/>
        </p:nvSpPr>
        <p:spPr>
          <a:xfrm>
            <a:off x="900000" y="420000"/>
            <a:ext cx="10000000" cy="42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7C3AED"/>
                </a:solidFill>
                <a:latin typeface="Segoe UI"/>
                <a:ea typeface="Microsoft YaHei"/>
              </a:rPr>
              <a:t>总览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四类样本，共 34 位人物</a:t>
            </a:r>
          </a:p>
        </p:txBody>
      </p:sp>
      <p:graphicFrame>
        <p:nvGraphicFramePr>
          <p:cNvPr id="33" name="Table"/>
          <p:cNvGraphicFramePr>
            <a:graphicFrameLocks noGrp="1"/>
          </p:cNvGraphicFramePr>
          <p:nvPr/>
        </p:nvGraphicFramePr>
        <p:xfrm>
          <a:off x="900000" y="1950000"/>
          <a:ext cx="10300000" cy="2100000"/>
        </p:xfrm>
        <a:graphic>
          <a:graphicData uri="http://schemas.openxmlformats.org/drawingml/2006/table">
            <a:tbl>
              <a:tblPr firstRow="1" bandRow="1"/>
              <a:tblGrid>
                <a:gridCol w="3433333"/>
                <a:gridCol w="3433333"/>
                <a:gridCol w="3433333"/>
              </a:tblGrid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070B14"/>
                          </a:solidFill>
                          <a:latin typeface="Segoe UI"/>
                          <a:ea typeface="Microsoft YaHei"/>
                        </a:rPr>
                        <a:t>类别</a:t>
                      </a:r>
                    </a:p>
                  </a:txBody>
                  <a:tcPr marL="91440" marR="91440" anchor="ctr">
                    <a:solidFill>
                      <a:srgbClr val="7C3AE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070B14"/>
                          </a:solidFill>
                          <a:latin typeface="Segoe UI"/>
                          <a:ea typeface="Microsoft YaHei"/>
                        </a:rPr>
                        <a:t>人数</a:t>
                      </a:r>
                    </a:p>
                  </a:txBody>
                  <a:tcPr marL="91440" marR="91440" anchor="ctr">
                    <a:solidFill>
                      <a:srgbClr val="7C3AE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070B14"/>
                          </a:solidFill>
                          <a:latin typeface="Segoe UI"/>
                          <a:ea typeface="Microsoft YaHei"/>
                        </a:rPr>
                        <a:t>关键词</a:t>
                      </a:r>
                    </a:p>
                  </a:txBody>
                  <a:tcPr marL="91440" marR="91440" anchor="ctr">
                    <a:solidFill>
                      <a:srgbClr val="7C3AED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创业校友</a:t>
                      </a:r>
                    </a:p>
                  </a:txBody>
                  <a:tcPr marL="91440" marR="91440" anchor="ctr">
                    <a:solidFill>
                      <a:srgbClr val="0D1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4</a:t>
                      </a:r>
                    </a:p>
                  </a:txBody>
                  <a:tcPr marL="91440" marR="91440" anchor="ctr">
                    <a:solidFill>
                      <a:srgbClr val="0D1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安防、精密制造、影音、新材料</a:t>
                      </a:r>
                    </a:p>
                  </a:txBody>
                  <a:tcPr marL="91440" marR="91440" anchor="ctr">
                    <a:solidFill>
                      <a:srgbClr val="0D1424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优秀毕业生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12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华为、腾讯、阿里云、税务、深造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竞赛科研</a:t>
                      </a:r>
                    </a:p>
                  </a:txBody>
                  <a:tcPr marL="91440" marR="91440" anchor="ctr">
                    <a:solidFill>
                      <a:srgbClr val="0D1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14</a:t>
                      </a:r>
                    </a:p>
                  </a:txBody>
                  <a:tcPr marL="91440" marR="91440" anchor="ctr">
                    <a:solidFill>
                      <a:srgbClr val="0D1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ICPC、蓝桥杯、美赛、发明专利</a:t>
                      </a:r>
                    </a:p>
                  </a:txBody>
                  <a:tcPr marL="91440" marR="91440" anchor="ctr">
                    <a:solidFill>
                      <a:srgbClr val="0D1424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科研新星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3+1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CVPR 2026、北大直博</a:t>
                      </a:r>
                    </a:p>
                  </a:txBody>
                  <a:tcPr marL="91440" marR="91440" anchor="ctr">
                    <a:noFill/>
                  </a:tcPr>
                </a:tc>
              </a:tr>
            </a:tbl>
          </a:graphicData>
        </a:graphic>
      </p:graphicFrame>
      <p:sp>
        <p:nvSpPr>
          <p:cNvPr id="3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03 / 40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Kicker"/>
          <p:cNvSpPr txBox="1"/>
          <p:nvPr/>
        </p:nvSpPr>
        <p:spPr>
          <a:xfrm>
            <a:off x="1050000" y="2250000"/>
            <a:ext cx="9000000" cy="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600" b="1" dirty="0">
                <a:solidFill>
                  <a:srgbClr val="7C3AED"/>
                </a:solidFill>
                <a:latin typeface="Segoe UI"/>
                <a:ea typeface="Microsoft YaHei"/>
              </a:rPr>
              <a:t>01</a:t>
            </a:r>
          </a:p>
        </p:txBody>
      </p:sp>
      <p:sp>
        <p:nvSpPr>
          <p:cNvPr id="42" name="Accent bar"/>
          <p:cNvSpPr/>
          <p:nvPr/>
        </p:nvSpPr>
        <p:spPr>
          <a:xfrm>
            <a:off x="1050000" y="2850000"/>
            <a:ext cx="1600000" cy="1600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/>
        </p:txBody>
      </p:sp>
      <p:sp>
        <p:nvSpPr>
          <p:cNvPr id="43" name="Title"/>
          <p:cNvSpPr txBox="1"/>
          <p:nvPr/>
        </p:nvSpPr>
        <p:spPr>
          <a:xfrm>
            <a:off x="1050000" y="3150000"/>
            <a:ext cx="10200000" cy="1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4000" b="1" dirty="0">
                <a:solidFill>
                  <a:srgbClr val="E8F1FF"/>
                </a:solidFill>
                <a:latin typeface="Segoe UI"/>
                <a:ea typeface="Microsoft YaHei"/>
              </a:rPr>
              <a:t>创业校友：把技术做成生意</a:t>
            </a:r>
          </a:p>
        </p:txBody>
      </p:sp>
      <p:sp>
        <p:nvSpPr>
          <p:cNvPr id="4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04 / 40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李小兵：把金融安防做成“小巨人”</a:t>
            </a:r>
          </a:p>
        </p:txBody>
      </p:sp>
      <p:sp>
        <p:nvSpPr>
          <p:cNvPr id="5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1988年入读计算机工程系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顶新时代董事长、学院校友分会会长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2000年创业，业务覆盖十余省市区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研发TES-AI视频分析系统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捐资设“顶新助学金”反哺母院</a:t>
            </a:r>
          </a:p>
        </p:txBody>
      </p:sp>
      <p:sp>
        <p:nvSpPr>
          <p:cNvPr id="5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图片来源：羊城晚报 2021-11-26</a:t>
            </a:r>
          </a:p>
        </p:txBody>
      </p:sp>
      <p:sp>
        <p:nvSpPr>
          <p:cNvPr id="5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05 / 40</a:t>
            </a:r>
          </a:p>
        </p:txBody>
      </p:sp>
      <p:pic>
        <p:nvPicPr>
          <p:cNvPr id="60" name="Slide image" descr="李小兵"/>
          <p:cNvPicPr>
            <a:picLocks noChangeAspect="1"/>
          </p:cNvPicPr>
          <p:nvPr/>
        </p:nvPicPr>
        <p:blipFill>
          <a:blip r:embed="rId3"/>
          <a:srcRect l="3230" r="3230"/>
          <a:stretch>
            <a:fillRect/>
          </a:stretch>
        </p:blipFill>
        <p:spPr>
          <a:xfrm>
            <a:off x="777240" y="1691640"/>
            <a:ext cx="5074920" cy="4069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韩林：精密连接器里的隐形冠军</a:t>
            </a:r>
          </a:p>
        </p:txBody>
      </p:sp>
      <p:sp>
        <p:nvSpPr>
          <p:cNvPr id="6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联基精密电子董事长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学院校友分会副会长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在江西吉安布局生产基地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捐资设“联基奖学金”三类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每年奖助70余名学生，期限五年</a:t>
            </a:r>
          </a:p>
        </p:txBody>
      </p:sp>
      <p:sp>
        <p:nvSpPr>
          <p:cNvPr id="6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李小兵、韩林在颁奖仪式上讲授创新创业课（学院新闻）</a:t>
            </a:r>
          </a:p>
        </p:txBody>
      </p:sp>
      <p:sp>
        <p:nvSpPr>
          <p:cNvPr id="6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06 / 40</a:t>
            </a:r>
          </a:p>
        </p:txBody>
      </p:sp>
      <p:pic>
        <p:nvPicPr>
          <p:cNvPr id="70" name="Slide image" descr="李小兵、韩林在颁奖仪式上讲授创新创业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3085"/>
            <a:ext cx="5074920" cy="380619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李晓程：把“听音”做成一体化方案</a:t>
            </a:r>
          </a:p>
        </p:txBody>
      </p:sp>
      <p:sp>
        <p:nvSpPr>
          <p:cNvPr id="7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蓝本影音创始人、董事长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2002年扎根广州番禺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深耕高端智能影音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影音空间一体化方案覆盖全国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自述计算机系统思维是创业底子</a:t>
            </a:r>
          </a:p>
        </p:txBody>
      </p:sp>
      <p:sp>
        <p:nvSpPr>
          <p:cNvPr id="7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学院走访蓝本影音（学院新闻 2026-10-22）</a:t>
            </a:r>
          </a:p>
        </p:txBody>
      </p:sp>
      <p:sp>
        <p:nvSpPr>
          <p:cNvPr id="7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07 / 40</a:t>
            </a:r>
          </a:p>
        </p:txBody>
      </p:sp>
      <p:pic>
        <p:nvPicPr>
          <p:cNvPr id="80" name="Slide image" descr="学院走访蓝本影音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3085"/>
            <a:ext cx="5074920" cy="380619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胡肇辉：从计算机到生态环境材料</a:t>
            </a:r>
          </a:p>
        </p:txBody>
      </p:sp>
      <p:sp>
        <p:nvSpPr>
          <p:cNvPr id="8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福美材料研究院负责人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学院校友分会副会长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首任轮值会长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2008年创办企业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自主研发核心技术，多个细分领域领先</a:t>
            </a:r>
          </a:p>
        </p:txBody>
      </p:sp>
      <p:sp>
        <p:nvSpPr>
          <p:cNvPr id="8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学院校友分会走访福美材料研究院（学院新闻 2025-11-18）</a:t>
            </a:r>
          </a:p>
        </p:txBody>
      </p:sp>
      <p:sp>
        <p:nvSpPr>
          <p:cNvPr id="8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08 / 40</a:t>
            </a:r>
          </a:p>
        </p:txBody>
      </p:sp>
      <p:pic>
        <p:nvPicPr>
          <p:cNvPr id="90" name="Slide image" descr="福美材料研究院走访合影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3085"/>
            <a:ext cx="5074920" cy="380619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Kicker"/>
          <p:cNvSpPr txBox="1"/>
          <p:nvPr/>
        </p:nvSpPr>
        <p:spPr>
          <a:xfrm>
            <a:off x="1050000" y="2250000"/>
            <a:ext cx="9000000" cy="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600" b="1" dirty="0">
                <a:solidFill>
                  <a:srgbClr val="7C3AED"/>
                </a:solidFill>
                <a:latin typeface="Segoe UI"/>
                <a:ea typeface="Microsoft YaHei"/>
              </a:rPr>
              <a:t>02</a:t>
            </a:r>
          </a:p>
        </p:txBody>
      </p:sp>
      <p:sp>
        <p:nvSpPr>
          <p:cNvPr id="92" name="Accent bar"/>
          <p:cNvSpPr/>
          <p:nvPr/>
        </p:nvSpPr>
        <p:spPr>
          <a:xfrm>
            <a:off x="1050000" y="2850000"/>
            <a:ext cx="1600000" cy="1600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/>
        </p:txBody>
      </p:sp>
      <p:sp>
        <p:nvSpPr>
          <p:cNvPr id="93" name="Title"/>
          <p:cNvSpPr txBox="1"/>
          <p:nvPr/>
        </p:nvSpPr>
        <p:spPr>
          <a:xfrm>
            <a:off x="1050000" y="3150000"/>
            <a:ext cx="10200000" cy="1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4000" b="1" dirty="0">
                <a:solidFill>
                  <a:srgbClr val="E8F1FF"/>
                </a:solidFill>
                <a:latin typeface="Segoe UI"/>
                <a:ea typeface="Microsoft YaHei"/>
              </a:rPr>
              <a:t>优秀毕业生：大厂、体制内与深造</a:t>
            </a:r>
          </a:p>
        </p:txBody>
      </p:sp>
      <p:sp>
        <p:nvSpPr>
          <p:cNvPr id="9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09 / 40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李志豪：从中科院到佐治亚理工的九篇论文</a:t>
            </a:r>
          </a:p>
        </p:txBody>
      </p:sp>
      <p:sp>
        <p:nvSpPr>
          <p:cNvPr id="10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校十佳学业优秀大学生标兵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国家奖学金、挑战杯省特等奖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中国科学院大学博士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佐治亚理工学院联合培养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发表SCI/EI论文9篇</a:t>
            </a:r>
          </a:p>
        </p:txBody>
      </p:sp>
      <p:sp>
        <p:nvSpPr>
          <p:cNvPr id="10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图片来源：学院官网“学子风采”</a:t>
            </a:r>
          </a:p>
        </p:txBody>
      </p:sp>
      <p:sp>
        <p:nvSpPr>
          <p:cNvPr id="10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10 / 40</a:t>
            </a:r>
          </a:p>
        </p:txBody>
      </p:sp>
      <p:pic>
        <p:nvPicPr>
          <p:cNvPr id="110" name="Slide image" descr="李志豪"/>
          <p:cNvPicPr>
            <a:picLocks noChangeAspect="1"/>
          </p:cNvPicPr>
          <p:nvPr/>
        </p:nvPicPr>
        <p:blipFill>
          <a:blip r:embed="rId3"/>
          <a:srcRect l="3230" r="3230"/>
          <a:stretch>
            <a:fillRect/>
          </a:stretch>
        </p:blipFill>
        <p:spPr>
          <a:xfrm>
            <a:off x="777240" y="1691640"/>
            <a:ext cx="5074920" cy="4069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谢建群：省学联主席转身华为“明日之星”</a:t>
            </a:r>
          </a:p>
        </p:txBody>
      </p:sp>
      <p:sp>
        <p:nvSpPr>
          <p:cNvPr id="11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曾任省学联执行主席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校学生会主席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在校获国家级、省级奖45项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华为终端地市办事处经理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2019大中华杰出个人奖</a:t>
            </a:r>
          </a:p>
        </p:txBody>
      </p:sp>
      <p:sp>
        <p:nvSpPr>
          <p:cNvPr id="11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图片来源：学院官网“学子风采”</a:t>
            </a:r>
          </a:p>
        </p:txBody>
      </p:sp>
      <p:sp>
        <p:nvSpPr>
          <p:cNvPr id="11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11 / 40</a:t>
            </a:r>
          </a:p>
        </p:txBody>
      </p:sp>
      <p:pic>
        <p:nvPicPr>
          <p:cNvPr id="120" name="Slide image" descr="谢建群"/>
          <p:cNvPicPr>
            <a:picLocks noChangeAspect="1"/>
          </p:cNvPicPr>
          <p:nvPr/>
        </p:nvPicPr>
        <p:blipFill>
          <a:blip r:embed="rId3"/>
          <a:srcRect l="3230" r="3230"/>
          <a:stretch>
            <a:fillRect/>
          </a:stretch>
        </p:blipFill>
        <p:spPr>
          <a:xfrm>
            <a:off x="777240" y="1691640"/>
            <a:ext cx="5074920" cy="4069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蔡开武：把校园空间做成腾讯总裁奖</a:t>
            </a:r>
          </a:p>
        </p:txBody>
      </p:sp>
      <p:sp>
        <p:nvSpPr>
          <p:cNvPr id="12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三年校一等奖学金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国家奖学金、院团委副书记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腾讯Android开发工程师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2017“社交平台部菁英”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校园空间获SNG事业部总裁奖</a:t>
            </a:r>
          </a:p>
        </p:txBody>
      </p:sp>
      <p:sp>
        <p:nvSpPr>
          <p:cNvPr id="12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图片来源：学院官网“学子风采”</a:t>
            </a:r>
          </a:p>
        </p:txBody>
      </p:sp>
      <p:sp>
        <p:nvSpPr>
          <p:cNvPr id="12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12 / 40</a:t>
            </a:r>
          </a:p>
        </p:txBody>
      </p:sp>
      <p:pic>
        <p:nvPicPr>
          <p:cNvPr id="130" name="Slide image" descr="蔡开武"/>
          <p:cNvPicPr>
            <a:picLocks noChangeAspect="1"/>
          </p:cNvPicPr>
          <p:nvPr/>
        </p:nvPicPr>
        <p:blipFill>
          <a:blip r:embed="rId3"/>
          <a:srcRect l="3230" r="3230"/>
          <a:stretch>
            <a:fillRect/>
          </a:stretch>
        </p:blipFill>
        <p:spPr>
          <a:xfrm>
            <a:off x="777240" y="1691640"/>
            <a:ext cx="5074920" cy="4069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曾泽洪：手机QQ春节活动的业务突破奖</a:t>
            </a:r>
          </a:p>
        </p:txBody>
      </p:sp>
      <p:sp>
        <p:nvSpPr>
          <p:cNvPr id="13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班长、社团队长、工作室负责人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腾讯PCG增值研发中心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Android开发工程师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2019手机QQ春节活动业务突破奖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同年获评优秀员工</a:t>
            </a:r>
          </a:p>
        </p:txBody>
      </p:sp>
      <p:sp>
        <p:nvSpPr>
          <p:cNvPr id="13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图片来源：学院官网“学子风采”</a:t>
            </a:r>
          </a:p>
        </p:txBody>
      </p:sp>
      <p:sp>
        <p:nvSpPr>
          <p:cNvPr id="13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13 / 40</a:t>
            </a:r>
          </a:p>
        </p:txBody>
      </p:sp>
      <p:pic>
        <p:nvPicPr>
          <p:cNvPr id="140" name="Slide image" descr="曾泽洪"/>
          <p:cNvPicPr>
            <a:picLocks noChangeAspect="1"/>
          </p:cNvPicPr>
          <p:nvPr/>
        </p:nvPicPr>
        <p:blipFill>
          <a:blip r:embed="rId3"/>
          <a:srcRect l="3230" r="3230"/>
          <a:stretch>
            <a:fillRect/>
          </a:stretch>
        </p:blipFill>
        <p:spPr>
          <a:xfrm>
            <a:off x="777240" y="1691640"/>
            <a:ext cx="5074920" cy="4069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方锐：在阿里云守双十一存储链路</a:t>
            </a:r>
          </a:p>
        </p:txBody>
      </p:sp>
      <p:sp>
        <p:nvSpPr>
          <p:cNvPr id="14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QG工作室2015级总组长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全国软件测试大赛国赛二等奖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阿里云计算基础平台研发工程师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从事海量对象云存储研发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参与2019双十一存储全链路保障</a:t>
            </a:r>
          </a:p>
        </p:txBody>
      </p:sp>
      <p:sp>
        <p:nvSpPr>
          <p:cNvPr id="14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图片来源：学院官网“学子风采”</a:t>
            </a:r>
          </a:p>
        </p:txBody>
      </p:sp>
      <p:sp>
        <p:nvSpPr>
          <p:cNvPr id="14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14 / 40</a:t>
            </a:r>
          </a:p>
        </p:txBody>
      </p:sp>
      <p:pic>
        <p:nvPicPr>
          <p:cNvPr id="150" name="Slide image" descr="方锐"/>
          <p:cNvPicPr>
            <a:picLocks noChangeAspect="1"/>
          </p:cNvPicPr>
          <p:nvPr/>
        </p:nvPicPr>
        <p:blipFill>
          <a:blip r:embed="rId3"/>
          <a:srcRect l="3230" r="3230"/>
          <a:stretch>
            <a:fillRect/>
          </a:stretch>
        </p:blipFill>
        <p:spPr>
          <a:xfrm>
            <a:off x="777240" y="1691640"/>
            <a:ext cx="5074920" cy="4069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刘鹏飞：从电信研究院到数说故事</a:t>
            </a:r>
          </a:p>
        </p:txBody>
      </p:sp>
      <p:sp>
        <p:nvSpPr>
          <p:cNvPr id="15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国家励志奖学金、学习标兵奖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曾任职中国电信广东研究院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数说故事中级大数据工程师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2018优秀员工、优秀团队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最佳团队协作奖</a:t>
            </a:r>
          </a:p>
        </p:txBody>
      </p:sp>
      <p:sp>
        <p:nvSpPr>
          <p:cNvPr id="15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学院人物页配图：数说故事团队（学院官网）</a:t>
            </a:r>
          </a:p>
        </p:txBody>
      </p:sp>
      <p:sp>
        <p:nvSpPr>
          <p:cNvPr id="15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15 / 40</a:t>
            </a:r>
          </a:p>
        </p:txBody>
      </p:sp>
      <p:pic>
        <p:nvPicPr>
          <p:cNvPr id="160" name="Slide image" descr="数说故事团队合影"/>
          <p:cNvPicPr>
            <a:picLocks noChangeAspect="1"/>
          </p:cNvPicPr>
          <p:nvPr/>
        </p:nvPicPr>
        <p:blipFill>
          <a:blip r:embed="rId3"/>
          <a:srcRect l="3230" r="3230"/>
          <a:stretch>
            <a:fillRect/>
          </a:stretch>
        </p:blipFill>
        <p:spPr>
          <a:xfrm>
            <a:off x="777240" y="1691640"/>
            <a:ext cx="5074920" cy="4069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陈泓鑫：从学生会副主席到运营操盘手</a:t>
            </a:r>
          </a:p>
        </p:txBody>
      </p:sp>
      <p:sp>
        <p:nvSpPr>
          <p:cNvPr id="16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院学生会副主席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广州趣丸网络高级运营专员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2017最佳新星奖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现任职成都哆可梦广州分公司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2019运营部门卓越奖</a:t>
            </a:r>
          </a:p>
        </p:txBody>
      </p:sp>
      <p:sp>
        <p:nvSpPr>
          <p:cNvPr id="16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图片来源：学院官网“学子风采”</a:t>
            </a:r>
          </a:p>
        </p:txBody>
      </p:sp>
      <p:sp>
        <p:nvSpPr>
          <p:cNvPr id="16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16 / 40</a:t>
            </a:r>
          </a:p>
        </p:txBody>
      </p:sp>
      <p:pic>
        <p:nvPicPr>
          <p:cNvPr id="170" name="Slide image" descr="陈泓鑫"/>
          <p:cNvPicPr>
            <a:picLocks noChangeAspect="1"/>
          </p:cNvPicPr>
          <p:nvPr/>
        </p:nvPicPr>
        <p:blipFill>
          <a:blip r:embed="rId3"/>
          <a:srcRect l="3230" r="3230"/>
          <a:stretch>
            <a:fillRect/>
          </a:stretch>
        </p:blipFill>
        <p:spPr>
          <a:xfrm>
            <a:off x="777240" y="1691640"/>
            <a:ext cx="5074920" cy="4069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王淦颖：把细致带进税务一线</a:t>
            </a:r>
          </a:p>
        </p:txBody>
      </p:sp>
      <p:sp>
        <p:nvSpPr>
          <p:cNvPr id="17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两次校三等奖学金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挑战杯志愿服务铜奖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南山区税务局一级行政执法员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2018年深圳市税务局年度考核优秀</a:t>
            </a:r>
          </a:p>
        </p:txBody>
      </p:sp>
      <p:sp>
        <p:nvSpPr>
          <p:cNvPr id="17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图片来源：学院官网“学子风采”</a:t>
            </a:r>
          </a:p>
        </p:txBody>
      </p:sp>
      <p:sp>
        <p:nvSpPr>
          <p:cNvPr id="17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17 / 40</a:t>
            </a:r>
          </a:p>
        </p:txBody>
      </p:sp>
      <p:pic>
        <p:nvPicPr>
          <p:cNvPr id="180" name="Slide image" descr="王淦颖"/>
          <p:cNvPicPr>
            <a:picLocks noChangeAspect="1"/>
          </p:cNvPicPr>
          <p:nvPr/>
        </p:nvPicPr>
        <p:blipFill>
          <a:blip r:embed="rId3"/>
          <a:srcRect l="3230" r="3230"/>
          <a:stretch>
            <a:fillRect/>
          </a:stretch>
        </p:blipFill>
        <p:spPr>
          <a:xfrm>
            <a:off x="777240" y="1691640"/>
            <a:ext cx="5074920" cy="4069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梁钊：粤西税务系统的优秀公务员</a:t>
            </a:r>
          </a:p>
        </p:txBody>
      </p:sp>
      <p:sp>
        <p:nvSpPr>
          <p:cNvPr id="18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学习标兵奖学金、一等奖学金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学生干部奖学金三年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遂溪县税务局科员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2017年度先进工作者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2017年度优秀公务员</a:t>
            </a:r>
          </a:p>
        </p:txBody>
      </p:sp>
      <p:sp>
        <p:nvSpPr>
          <p:cNvPr id="18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图片来源：学院官网“学子风采”</a:t>
            </a:r>
          </a:p>
        </p:txBody>
      </p:sp>
      <p:sp>
        <p:nvSpPr>
          <p:cNvPr id="18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18 / 40</a:t>
            </a:r>
          </a:p>
        </p:txBody>
      </p:sp>
      <p:pic>
        <p:nvPicPr>
          <p:cNvPr id="190" name="Slide image" descr="梁钊"/>
          <p:cNvPicPr>
            <a:picLocks noChangeAspect="1"/>
          </p:cNvPicPr>
          <p:nvPr/>
        </p:nvPicPr>
        <p:blipFill>
          <a:blip r:embed="rId3"/>
          <a:srcRect l="3230" r="3230"/>
          <a:stretch>
            <a:fillRect/>
          </a:stretch>
        </p:blipFill>
        <p:spPr>
          <a:xfrm>
            <a:off x="777240" y="1691640"/>
            <a:ext cx="5074920" cy="4069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冯俊华：留在广工做创客的推免生</a:t>
            </a:r>
          </a:p>
        </p:txBody>
      </p:sp>
      <p:sp>
        <p:nvSpPr>
          <p:cNvPr id="19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三次一等奖学金、学生标兵奖学金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金砖创客大赛二等奖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iCAN国赛二等奖、挑战杯省银奖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推免至广工计算机科学与技术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智汇+创客工坊主席</a:t>
            </a:r>
          </a:p>
        </p:txBody>
      </p:sp>
      <p:sp>
        <p:nvSpPr>
          <p:cNvPr id="19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图片来源：学院官网“学子风采”</a:t>
            </a:r>
          </a:p>
        </p:txBody>
      </p:sp>
      <p:sp>
        <p:nvSpPr>
          <p:cNvPr id="19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19 / 40</a:t>
            </a:r>
          </a:p>
        </p:txBody>
      </p:sp>
      <p:pic>
        <p:nvPicPr>
          <p:cNvPr id="200" name="Slide image" descr="冯俊华"/>
          <p:cNvPicPr>
            <a:picLocks noChangeAspect="1"/>
          </p:cNvPicPr>
          <p:nvPr/>
        </p:nvPicPr>
        <p:blipFill>
          <a:blip r:embed="rId3"/>
          <a:srcRect l="3230" r="3230"/>
          <a:stretch>
            <a:fillRect/>
          </a:stretch>
        </p:blipFill>
        <p:spPr>
          <a:xfrm>
            <a:off x="777240" y="1691640"/>
            <a:ext cx="5074920" cy="4069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谢泳：一项发明专利换来推免资格</a:t>
            </a:r>
          </a:p>
        </p:txBody>
      </p:sp>
      <p:sp>
        <p:nvSpPr>
          <p:cNvPr id="20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三年校一等奖学金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授权发明专利1项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完成大学生创新项目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推免留校攻读硕士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研究生两年一等学业奖学金</a:t>
            </a:r>
          </a:p>
        </p:txBody>
      </p:sp>
      <p:sp>
        <p:nvSpPr>
          <p:cNvPr id="20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图片来源：学院官网“学子风采”</a:t>
            </a:r>
          </a:p>
        </p:txBody>
      </p:sp>
      <p:sp>
        <p:nvSpPr>
          <p:cNvPr id="20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20 / 40</a:t>
            </a:r>
          </a:p>
        </p:txBody>
      </p:sp>
      <p:pic>
        <p:nvPicPr>
          <p:cNvPr id="210" name="Slide image" descr="谢泳"/>
          <p:cNvPicPr>
            <a:picLocks noChangeAspect="1"/>
          </p:cNvPicPr>
          <p:nvPr/>
        </p:nvPicPr>
        <p:blipFill>
          <a:blip r:embed="rId3"/>
          <a:srcRect l="3230" r="3230"/>
          <a:stretch>
            <a:fillRect/>
          </a:stretch>
        </p:blipFill>
        <p:spPr>
          <a:xfrm>
            <a:off x="777240" y="1691640"/>
            <a:ext cx="5074920" cy="4069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张培烽：把“拒稿”讲成毕业演讲</a:t>
            </a:r>
          </a:p>
        </p:txBody>
      </p:sp>
      <p:sp>
        <p:nvSpPr>
          <p:cNvPr id="21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2025届优秀毕业生代表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本科加硕士七年广工时光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以“平凡人的科研之路”发言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从推免硕士到攻读博士</a:t>
            </a:r>
          </a:p>
        </p:txBody>
      </p:sp>
      <p:sp>
        <p:nvSpPr>
          <p:cNvPr id="21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2025届毕业典礼·优秀毕业生代表发言（学院新闻）</a:t>
            </a:r>
          </a:p>
        </p:txBody>
      </p:sp>
      <p:sp>
        <p:nvSpPr>
          <p:cNvPr id="21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21 / 40</a:t>
            </a:r>
          </a:p>
        </p:txBody>
      </p:sp>
      <p:pic>
        <p:nvPicPr>
          <p:cNvPr id="220" name="Slide image" descr="张培烽作为优秀毕业生代表发言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3085"/>
            <a:ext cx="5074920" cy="380619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Kicker"/>
          <p:cNvSpPr txBox="1"/>
          <p:nvPr/>
        </p:nvSpPr>
        <p:spPr>
          <a:xfrm>
            <a:off x="1050000" y="2250000"/>
            <a:ext cx="9000000" cy="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600" b="1" dirty="0">
                <a:solidFill>
                  <a:srgbClr val="7C3AED"/>
                </a:solidFill>
                <a:latin typeface="Segoe UI"/>
                <a:ea typeface="Microsoft YaHei"/>
              </a:rPr>
              <a:t>03</a:t>
            </a:r>
          </a:p>
        </p:txBody>
      </p:sp>
      <p:sp>
        <p:nvSpPr>
          <p:cNvPr id="222" name="Accent bar"/>
          <p:cNvSpPr/>
          <p:nvPr/>
        </p:nvSpPr>
        <p:spPr>
          <a:xfrm>
            <a:off x="1050000" y="2850000"/>
            <a:ext cx="1600000" cy="1600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/>
        </p:txBody>
      </p:sp>
      <p:sp>
        <p:nvSpPr>
          <p:cNvPr id="223" name="Title"/>
          <p:cNvSpPr txBox="1"/>
          <p:nvPr/>
        </p:nvSpPr>
        <p:spPr>
          <a:xfrm>
            <a:off x="1050000" y="3150000"/>
            <a:ext cx="10200000" cy="1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4000" b="1" dirty="0">
                <a:solidFill>
                  <a:srgbClr val="E8F1FF"/>
                </a:solidFill>
                <a:latin typeface="Segoe UI"/>
                <a:ea typeface="Microsoft YaHei"/>
              </a:rPr>
              <a:t>竞赛科研：奖牌与专利堆出的履历</a:t>
            </a:r>
          </a:p>
        </p:txBody>
      </p:sp>
      <p:sp>
        <p:nvSpPr>
          <p:cNvPr id="22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22 / 40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张斯力：ICPC两银一铜的竞赛底子</a:t>
            </a:r>
          </a:p>
        </p:txBody>
      </p:sp>
      <p:sp>
        <p:nvSpPr>
          <p:cNvPr id="23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ICPC西安站、徐州站银奖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CCPC秦皇岛站铜奖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蓝桥杯国赛一等奖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天梯赛奖项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国家奖学金两次</a:t>
            </a:r>
          </a:p>
        </p:txBody>
      </p:sp>
      <p:sp>
        <p:nvSpPr>
          <p:cNvPr id="23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图片来源：学院官网“学子风采”</a:t>
            </a:r>
          </a:p>
        </p:txBody>
      </p:sp>
      <p:sp>
        <p:nvSpPr>
          <p:cNvPr id="23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23 / 40</a:t>
            </a:r>
          </a:p>
        </p:txBody>
      </p:sp>
      <p:pic>
        <p:nvPicPr>
          <p:cNvPr id="240" name="Slide image" descr="张斯力"/>
          <p:cNvPicPr>
            <a:picLocks noChangeAspect="1"/>
          </p:cNvPicPr>
          <p:nvPr/>
        </p:nvPicPr>
        <p:blipFill>
          <a:blip r:embed="rId3"/>
          <a:srcRect l="3230" r="3230"/>
          <a:stretch>
            <a:fillRect/>
          </a:stretch>
        </p:blipFill>
        <p:spPr>
          <a:xfrm>
            <a:off x="777240" y="1691640"/>
            <a:ext cx="5074920" cy="4069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张润鹏：八项软著加一篇IEEE TII</a:t>
            </a:r>
          </a:p>
        </p:txBody>
      </p:sp>
      <p:sp>
        <p:nvSpPr>
          <p:cNvPr id="24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2020年美赛F奖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国家奖学金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全国绿色计算大赛一等奖两次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IEEE TII论文录用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软件著作权8项</a:t>
            </a:r>
          </a:p>
        </p:txBody>
      </p:sp>
      <p:sp>
        <p:nvSpPr>
          <p:cNvPr id="24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图片来源：学院官网“学子风采”</a:t>
            </a:r>
          </a:p>
        </p:txBody>
      </p:sp>
      <p:sp>
        <p:nvSpPr>
          <p:cNvPr id="24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24 / 40</a:t>
            </a:r>
          </a:p>
        </p:txBody>
      </p:sp>
      <p:pic>
        <p:nvPicPr>
          <p:cNvPr id="250" name="Slide image" descr="张润鹏"/>
          <p:cNvPicPr>
            <a:picLocks noChangeAspect="1"/>
          </p:cNvPicPr>
          <p:nvPr/>
        </p:nvPicPr>
        <p:blipFill>
          <a:blip r:embed="rId3"/>
          <a:srcRect l="3230" r="3230"/>
          <a:stretch>
            <a:fillRect/>
          </a:stretch>
        </p:blipFill>
        <p:spPr>
          <a:xfrm>
            <a:off x="777240" y="1691640"/>
            <a:ext cx="5074920" cy="4069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吴政毅：打进ICPC亚洲区决赛</a:t>
            </a:r>
          </a:p>
        </p:txBody>
      </p:sp>
      <p:sp>
        <p:nvSpPr>
          <p:cNvPr id="25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ACM-ICPC亚洲区决赛铜奖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CCPC厦门站铜奖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蓝桥杯省一等奖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广东省赛二等奖</a:t>
            </a:r>
          </a:p>
        </p:txBody>
      </p:sp>
      <p:sp>
        <p:nvSpPr>
          <p:cNvPr id="25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图片来源：学院官网“学子风采”</a:t>
            </a:r>
          </a:p>
        </p:txBody>
      </p:sp>
      <p:sp>
        <p:nvSpPr>
          <p:cNvPr id="25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25 / 40</a:t>
            </a:r>
          </a:p>
        </p:txBody>
      </p:sp>
      <p:pic>
        <p:nvPicPr>
          <p:cNvPr id="260" name="Slide image" descr="吴政毅"/>
          <p:cNvPicPr>
            <a:picLocks noChangeAspect="1"/>
          </p:cNvPicPr>
          <p:nvPr/>
        </p:nvPicPr>
        <p:blipFill>
          <a:blip r:embed="rId3"/>
          <a:srcRect l="3230" r="3230"/>
          <a:stretch>
            <a:fillRect/>
          </a:stretch>
        </p:blipFill>
        <p:spPr>
          <a:xfrm>
            <a:off x="777240" y="1691640"/>
            <a:ext cx="5074920" cy="4069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刘基正：五项发明专利的“小平团队”成员</a:t>
            </a:r>
          </a:p>
        </p:txBody>
      </p:sp>
      <p:sp>
        <p:nvSpPr>
          <p:cNvPr id="26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小平科技创新团队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泛珠三角+计算机作品赛一等奖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高校杯一等奖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粤港澳IT应用大赛一等奖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发明专利5项、软著1项</a:t>
            </a:r>
          </a:p>
        </p:txBody>
      </p:sp>
      <p:sp>
        <p:nvSpPr>
          <p:cNvPr id="26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图片来源：学院官网“学子风采”</a:t>
            </a:r>
          </a:p>
        </p:txBody>
      </p:sp>
      <p:sp>
        <p:nvSpPr>
          <p:cNvPr id="26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26 / 40</a:t>
            </a:r>
          </a:p>
        </p:txBody>
      </p:sp>
      <p:pic>
        <p:nvPicPr>
          <p:cNvPr id="270" name="Slide image" descr="刘基正"/>
          <p:cNvPicPr>
            <a:picLocks noChangeAspect="1"/>
          </p:cNvPicPr>
          <p:nvPr/>
        </p:nvPicPr>
        <p:blipFill>
          <a:blip r:embed="rId3"/>
          <a:srcRect l="3230" r="3230"/>
          <a:stretch>
            <a:fillRect/>
          </a:stretch>
        </p:blipFill>
        <p:spPr>
          <a:xfrm>
            <a:off x="777240" y="1691640"/>
            <a:ext cx="5074920" cy="4069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章世楠：七项专利加一篇论文</a:t>
            </a:r>
          </a:p>
        </p:txBody>
      </p:sp>
      <p:sp>
        <p:nvSpPr>
          <p:cNvPr id="27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全国软件测试大赛三等奖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创青春省金奖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发明专利2项、实用新型5项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软件著作权1项、论文1篇</a:t>
            </a:r>
          </a:p>
        </p:txBody>
      </p:sp>
      <p:sp>
        <p:nvSpPr>
          <p:cNvPr id="27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图片来源：学院官网“学子风采”</a:t>
            </a:r>
          </a:p>
        </p:txBody>
      </p:sp>
      <p:sp>
        <p:nvSpPr>
          <p:cNvPr id="27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27 / 40</a:t>
            </a:r>
          </a:p>
        </p:txBody>
      </p:sp>
      <p:pic>
        <p:nvPicPr>
          <p:cNvPr id="280" name="Slide image" descr="章世楠"/>
          <p:cNvPicPr>
            <a:picLocks noChangeAspect="1"/>
          </p:cNvPicPr>
          <p:nvPr/>
        </p:nvPicPr>
        <p:blipFill>
          <a:blip r:embed="rId3"/>
          <a:srcRect l="3230" r="3230"/>
          <a:stretch>
            <a:fillRect/>
          </a:stretch>
        </p:blipFill>
        <p:spPr>
          <a:xfrm>
            <a:off x="777240" y="1691640"/>
            <a:ext cx="5074920" cy="4069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李莹：连续三年一等奖学金的国奖得主</a:t>
            </a:r>
          </a:p>
        </p:txBody>
      </p:sp>
      <p:sp>
        <p:nvSpPr>
          <p:cNvPr id="28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国家奖学金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学习标兵奖学金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连续三年一等奖学金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美赛H奖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2020届优秀毕业生</a:t>
            </a:r>
          </a:p>
        </p:txBody>
      </p:sp>
      <p:sp>
        <p:nvSpPr>
          <p:cNvPr id="28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图片来源：学院官网“学子风采”</a:t>
            </a:r>
          </a:p>
        </p:txBody>
      </p:sp>
      <p:sp>
        <p:nvSpPr>
          <p:cNvPr id="28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28 / 40</a:t>
            </a:r>
          </a:p>
        </p:txBody>
      </p:sp>
      <p:pic>
        <p:nvPicPr>
          <p:cNvPr id="290" name="Slide image" descr="李莹"/>
          <p:cNvPicPr>
            <a:picLocks noChangeAspect="1"/>
          </p:cNvPicPr>
          <p:nvPr/>
        </p:nvPicPr>
        <p:blipFill>
          <a:blip r:embed="rId3"/>
          <a:srcRect l="3230" r="3230"/>
          <a:stretch>
            <a:fillRect/>
          </a:stretch>
        </p:blipFill>
        <p:spPr>
          <a:xfrm>
            <a:off x="777240" y="1691640"/>
            <a:ext cx="5074920" cy="4069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胡成：国奖加蓝桥杯省一</a:t>
            </a:r>
          </a:p>
        </p:txBody>
      </p:sp>
      <p:sp>
        <p:nvSpPr>
          <p:cNvPr id="29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国家奖学金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校一等奖学金、明动一等奖学金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蓝桥杯省一等奖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美赛S奖</a:t>
            </a:r>
          </a:p>
        </p:txBody>
      </p:sp>
      <p:sp>
        <p:nvSpPr>
          <p:cNvPr id="29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图片来源：学院官网“学子风采”</a:t>
            </a:r>
          </a:p>
        </p:txBody>
      </p:sp>
      <p:sp>
        <p:nvSpPr>
          <p:cNvPr id="29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29 / 40</a:t>
            </a:r>
          </a:p>
        </p:txBody>
      </p:sp>
      <p:pic>
        <p:nvPicPr>
          <p:cNvPr id="300" name="Slide image" descr="胡成"/>
          <p:cNvPicPr>
            <a:picLocks noChangeAspect="1"/>
          </p:cNvPicPr>
          <p:nvPr/>
        </p:nvPicPr>
        <p:blipFill>
          <a:blip r:embed="rId3"/>
          <a:srcRect l="3230" r="3230"/>
          <a:stretch>
            <a:fillRect/>
          </a:stretch>
        </p:blipFill>
        <p:spPr>
          <a:xfrm>
            <a:off x="777240" y="1691640"/>
            <a:ext cx="5074920" cy="4069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林文琛：小程序大赛全国三等奖</a:t>
            </a:r>
          </a:p>
        </p:txBody>
      </p:sp>
      <p:sp>
        <p:nvSpPr>
          <p:cNvPr id="30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蓝桥杯省一等奖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微信小程序大赛全国三等奖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挑战杯创青春省金奖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省计算机设计大赛一等奖</a:t>
            </a:r>
          </a:p>
        </p:txBody>
      </p:sp>
      <p:sp>
        <p:nvSpPr>
          <p:cNvPr id="30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图片来源：学院官网“学子风采”</a:t>
            </a:r>
          </a:p>
        </p:txBody>
      </p:sp>
      <p:sp>
        <p:nvSpPr>
          <p:cNvPr id="30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30 / 40</a:t>
            </a:r>
          </a:p>
        </p:txBody>
      </p:sp>
      <p:pic>
        <p:nvPicPr>
          <p:cNvPr id="310" name="Slide image" descr="林文琛"/>
          <p:cNvPicPr>
            <a:picLocks noChangeAspect="1"/>
          </p:cNvPicPr>
          <p:nvPr/>
        </p:nvPicPr>
        <p:blipFill>
          <a:blip r:embed="rId3"/>
          <a:srcRect l="3230" r="3230"/>
          <a:stretch>
            <a:fillRect/>
          </a:stretch>
        </p:blipFill>
        <p:spPr>
          <a:xfrm>
            <a:off x="777240" y="1691640"/>
            <a:ext cx="5074920" cy="4069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黄正婷：美赛F奖的建模手</a:t>
            </a:r>
          </a:p>
        </p:txBody>
      </p:sp>
      <p:sp>
        <p:nvSpPr>
          <p:cNvPr id="31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2020年美赛F奖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2019年数模广东省三等奖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创青春校银奖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优秀迎新使者</a:t>
            </a:r>
          </a:p>
        </p:txBody>
      </p:sp>
      <p:sp>
        <p:nvSpPr>
          <p:cNvPr id="31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图片来源：学院官网“学子风采”</a:t>
            </a:r>
          </a:p>
        </p:txBody>
      </p:sp>
      <p:sp>
        <p:nvSpPr>
          <p:cNvPr id="31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31 / 40</a:t>
            </a:r>
          </a:p>
        </p:txBody>
      </p:sp>
      <p:pic>
        <p:nvPicPr>
          <p:cNvPr id="320" name="Slide image" descr="黄正婷"/>
          <p:cNvPicPr>
            <a:picLocks noChangeAspect="1"/>
          </p:cNvPicPr>
          <p:nvPr/>
        </p:nvPicPr>
        <p:blipFill>
          <a:blip r:embed="rId3"/>
          <a:srcRect l="3230" r="3230"/>
          <a:stretch>
            <a:fillRect/>
          </a:stretch>
        </p:blipFill>
        <p:spPr>
          <a:xfrm>
            <a:off x="777240" y="1691640"/>
            <a:ext cx="5074920" cy="4069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邓宇：ICPC两站三等奖加天梯赛国二</a:t>
            </a:r>
          </a:p>
        </p:txBody>
      </p:sp>
      <p:sp>
        <p:nvSpPr>
          <p:cNvPr id="32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ACM-ICPC沈阳站、北京站三等奖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蓝桥杯省一等奖两次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天梯赛全国二等奖</a:t>
            </a:r>
          </a:p>
        </p:txBody>
      </p:sp>
      <p:sp>
        <p:nvSpPr>
          <p:cNvPr id="32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图片来源：学院官网“学子风采”</a:t>
            </a:r>
          </a:p>
        </p:txBody>
      </p:sp>
      <p:sp>
        <p:nvSpPr>
          <p:cNvPr id="32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32 / 40</a:t>
            </a:r>
          </a:p>
        </p:txBody>
      </p:sp>
      <p:pic>
        <p:nvPicPr>
          <p:cNvPr id="330" name="Slide image" descr="邓宇"/>
          <p:cNvPicPr>
            <a:picLocks noChangeAspect="1"/>
          </p:cNvPicPr>
          <p:nvPr/>
        </p:nvPicPr>
        <p:blipFill>
          <a:blip r:embed="rId3"/>
          <a:srcRect l="3230" r="3230"/>
          <a:stretch>
            <a:fillRect/>
          </a:stretch>
        </p:blipFill>
        <p:spPr>
          <a:xfrm>
            <a:off x="777240" y="1691640"/>
            <a:ext cx="5074920" cy="4069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郭旭：网络安全赛场的常客</a:t>
            </a:r>
          </a:p>
        </p:txBody>
      </p:sp>
      <p:sp>
        <p:nvSpPr>
          <p:cNvPr id="33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强网杯线上赛优秀奖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红帽杯优胜奖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2019年挑战杯省赛一等奖</a:t>
            </a:r>
          </a:p>
        </p:txBody>
      </p:sp>
      <p:sp>
        <p:nvSpPr>
          <p:cNvPr id="33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图片来源：学院官网“学子风采”</a:t>
            </a:r>
          </a:p>
        </p:txBody>
      </p:sp>
      <p:sp>
        <p:nvSpPr>
          <p:cNvPr id="33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33 / 40</a:t>
            </a:r>
          </a:p>
        </p:txBody>
      </p:sp>
      <p:pic>
        <p:nvPicPr>
          <p:cNvPr id="340" name="Slide image" descr="郭旭"/>
          <p:cNvPicPr>
            <a:picLocks noChangeAspect="1"/>
          </p:cNvPicPr>
          <p:nvPr/>
        </p:nvPicPr>
        <p:blipFill>
          <a:blip r:embed="rId3"/>
          <a:srcRect l="3230" r="3230"/>
          <a:stretch>
            <a:fillRect/>
          </a:stretch>
        </p:blipFill>
        <p:spPr>
          <a:xfrm>
            <a:off x="777240" y="1691640"/>
            <a:ext cx="5074920" cy="4069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郭鹏燕：三项软著加国家级大创</a:t>
            </a:r>
          </a:p>
        </p:txBody>
      </p:sp>
      <p:sp>
        <p:nvSpPr>
          <p:cNvPr id="34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软件著作权3项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国家励志奖学金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国家级大创项目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南牧杯数模二等奖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挑战杯校一等奖</a:t>
            </a:r>
          </a:p>
        </p:txBody>
      </p:sp>
      <p:sp>
        <p:nvSpPr>
          <p:cNvPr id="34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图片来源：学院官网“学子风采”</a:t>
            </a:r>
          </a:p>
        </p:txBody>
      </p:sp>
      <p:sp>
        <p:nvSpPr>
          <p:cNvPr id="34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34 / 40</a:t>
            </a:r>
          </a:p>
        </p:txBody>
      </p:sp>
      <p:pic>
        <p:nvPicPr>
          <p:cNvPr id="350" name="Slide image" descr="郭鹏燕"/>
          <p:cNvPicPr>
            <a:picLocks noChangeAspect="1"/>
          </p:cNvPicPr>
          <p:nvPr/>
        </p:nvPicPr>
        <p:blipFill>
          <a:blip r:embed="rId3"/>
          <a:srcRect l="3230" r="3230"/>
          <a:stretch>
            <a:fillRect/>
          </a:stretch>
        </p:blipFill>
        <p:spPr>
          <a:xfrm>
            <a:off x="777240" y="1691640"/>
            <a:ext cx="5074920" cy="4069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吴恒鑫：十佳团支部书记</a:t>
            </a:r>
          </a:p>
        </p:txBody>
      </p:sp>
      <p:sp>
        <p:nvSpPr>
          <p:cNvPr id="35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国家励志奖学金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校一等奖学金两次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明动二等奖学金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十佳共青团干部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十佳团支部书记</a:t>
            </a:r>
          </a:p>
        </p:txBody>
      </p:sp>
      <p:sp>
        <p:nvSpPr>
          <p:cNvPr id="35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图片来源：学院官网“学子风采”</a:t>
            </a:r>
          </a:p>
        </p:txBody>
      </p:sp>
      <p:sp>
        <p:nvSpPr>
          <p:cNvPr id="35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35 / 40</a:t>
            </a:r>
          </a:p>
        </p:txBody>
      </p:sp>
      <p:pic>
        <p:nvPicPr>
          <p:cNvPr id="360" name="Slide image" descr="吴恒鑫"/>
          <p:cNvPicPr>
            <a:picLocks noChangeAspect="1"/>
          </p:cNvPicPr>
          <p:nvPr/>
        </p:nvPicPr>
        <p:blipFill>
          <a:blip r:embed="rId3"/>
          <a:srcRect l="3230" r="3230"/>
          <a:stretch>
            <a:fillRect/>
          </a:stretch>
        </p:blipFill>
        <p:spPr>
          <a:xfrm>
            <a:off x="777240" y="1691640"/>
            <a:ext cx="5074920" cy="4069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钟梓东：学生工作奖学金两连</a:t>
            </a:r>
          </a:p>
        </p:txBody>
      </p:sp>
      <p:sp>
        <p:nvSpPr>
          <p:cNvPr id="36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优秀学生干部奖学金两次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优秀学生三等奖学金</a:t>
            </a:r>
          </a:p>
        </p:txBody>
      </p:sp>
      <p:sp>
        <p:nvSpPr>
          <p:cNvPr id="36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图片来源：学院官网“学子风采”</a:t>
            </a:r>
          </a:p>
        </p:txBody>
      </p:sp>
      <p:sp>
        <p:nvSpPr>
          <p:cNvPr id="36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36 / 40</a:t>
            </a:r>
          </a:p>
        </p:txBody>
      </p:sp>
      <p:pic>
        <p:nvPicPr>
          <p:cNvPr id="370" name="Slide image" descr="钟梓东"/>
          <p:cNvPicPr>
            <a:picLocks noChangeAspect="1"/>
          </p:cNvPicPr>
          <p:nvPr/>
        </p:nvPicPr>
        <p:blipFill>
          <a:blip r:embed="rId3"/>
          <a:srcRect l="3230" r="3230"/>
          <a:stretch>
            <a:fillRect/>
          </a:stretch>
        </p:blipFill>
        <p:spPr>
          <a:xfrm>
            <a:off x="777240" y="1691640"/>
            <a:ext cx="5074920" cy="4069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Kicker"/>
          <p:cNvSpPr txBox="1"/>
          <p:nvPr/>
        </p:nvSpPr>
        <p:spPr>
          <a:xfrm>
            <a:off x="1050000" y="2250000"/>
            <a:ext cx="9000000" cy="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600" b="1" dirty="0">
                <a:solidFill>
                  <a:srgbClr val="7C3AED"/>
                </a:solidFill>
                <a:latin typeface="Segoe UI"/>
                <a:ea typeface="Microsoft YaHei"/>
              </a:rPr>
              <a:t>04</a:t>
            </a:r>
          </a:p>
        </p:txBody>
      </p:sp>
      <p:sp>
        <p:nvSpPr>
          <p:cNvPr id="372" name="Accent bar"/>
          <p:cNvSpPr/>
          <p:nvPr/>
        </p:nvSpPr>
        <p:spPr>
          <a:xfrm>
            <a:off x="1050000" y="2850000"/>
            <a:ext cx="1600000" cy="1600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/>
        </p:txBody>
      </p:sp>
      <p:sp>
        <p:nvSpPr>
          <p:cNvPr id="373" name="Title"/>
          <p:cNvSpPr txBox="1"/>
          <p:nvPr/>
        </p:nvSpPr>
        <p:spPr>
          <a:xfrm>
            <a:off x="1050000" y="3150000"/>
            <a:ext cx="10200000" cy="1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4000" b="1" dirty="0">
                <a:solidFill>
                  <a:srgbClr val="E8F1FF"/>
                </a:solidFill>
                <a:latin typeface="Segoe UI"/>
                <a:ea typeface="Microsoft YaHei"/>
              </a:rPr>
              <a:t>科研新星：本科生也能站上 CVPR</a:t>
            </a:r>
          </a:p>
        </p:txBody>
      </p:sp>
      <p:sp>
        <p:nvSpPr>
          <p:cNvPr id="37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37 / 40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三名本科生把图像编辑变成最优传输</a:t>
            </a:r>
          </a:p>
        </p:txBody>
      </p:sp>
      <p:sp>
        <p:nvSpPr>
          <p:cNvPr id="383" name="Body"/>
          <p:cNvSpPr txBox="1"/>
          <p:nvPr/>
        </p:nvSpPr>
        <p:spPr>
          <a:xfrm>
            <a:off x="777240" y="1691640"/>
            <a:ext cx="507492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16092篇投稿，获奖率0.03%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最佳学生论文荣誉提名仅1篇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论文无导师署名，纯学生团队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提出ChordEdit一步式编辑方法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石飏通讯、卢梁司一作、郭敏哲三作</a:t>
            </a:r>
          </a:p>
        </p:txBody>
      </p:sp>
      <p:sp>
        <p:nvSpPr>
          <p:cNvPr id="38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石飏与队友在学院楼前（学院新闻）</a:t>
            </a:r>
          </a:p>
        </p:txBody>
      </p:sp>
      <p:sp>
        <p:nvSpPr>
          <p:cNvPr id="38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38 / 40</a:t>
            </a:r>
          </a:p>
        </p:txBody>
      </p:sp>
      <p:pic>
        <p:nvPicPr>
          <p:cNvPr id="390" name="Slide image" descr="石飏与队友在学院楼前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805940"/>
            <a:ext cx="5120640" cy="38404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学生带学生：一条自下而上的科研链</a:t>
            </a:r>
          </a:p>
        </p:txBody>
      </p:sp>
      <p:sp>
        <p:nvSpPr>
          <p:cNvPr id="39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王敬超：2021级人工智能，直博北大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本科期间发表多篇高水平论文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带出石飏，石飏再带郭敏哲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学院每年本科生顶会论文10余篇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2020年起设“进科研、进团队”双选会</a:t>
            </a:r>
          </a:p>
        </p:txBody>
      </p:sp>
      <p:sp>
        <p:nvSpPr>
          <p:cNvPr id="39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CVPR 2026 最佳学生论文荣誉提名海报</a:t>
            </a:r>
          </a:p>
        </p:txBody>
      </p:sp>
      <p:sp>
        <p:nvSpPr>
          <p:cNvPr id="39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39 / 40</a:t>
            </a:r>
          </a:p>
        </p:txBody>
      </p:sp>
      <p:pic>
        <p:nvPicPr>
          <p:cNvPr id="400" name="Slide image" descr="CVPR 2026 获奖海报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3085"/>
            <a:ext cx="5074920" cy="380619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Title"/>
          <p:cNvSpPr txBox="1"/>
          <p:nvPr/>
        </p:nvSpPr>
        <p:spPr>
          <a:xfrm>
            <a:off x="1050000" y="2300000"/>
            <a:ext cx="10200000" cy="17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ctr">
              <a:buNone/>
            </a:pPr>
            <a:r>
              <a:rPr lang="zh-CN" sz="5200" b="1" dirty="0">
                <a:solidFill>
                  <a:srgbClr val="E8F1FF"/>
                </a:solidFill>
                <a:latin typeface="Segoe UI"/>
                <a:ea typeface="Microsoft YaHei"/>
              </a:rPr>
              <a:t>让优秀被看见，也让路径可复制</a:t>
            </a:r>
          </a:p>
        </p:txBody>
      </p:sp>
      <p:sp>
        <p:nvSpPr>
          <p:cNvPr id="402" name="Subtitle"/>
          <p:cNvSpPr txBox="1"/>
          <p:nvPr/>
        </p:nvSpPr>
        <p:spPr>
          <a:xfrm>
            <a:off x="1050000" y="4200000"/>
            <a:ext cx="10200000" cy="9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ctr">
              <a:buNone/>
            </a:pPr>
            <a:r>
              <a:rPr lang="zh-CN" sz="2000" b="1" dirty="0">
                <a:solidFill>
                  <a:srgbClr val="7C3AED"/>
                </a:solidFill>
                <a:latin typeface="Segoe UI"/>
                <a:ea typeface="Microsoft YaHei"/>
              </a:rPr>
              <a:t>数据来源：学院官网、羊城晚报、中国科学报｜整理于 2026.10</a:t>
            </a:r>
          </a:p>
        </p:txBody>
      </p:sp>
      <p:sp>
        <p:nvSpPr>
          <p:cNvPr id="40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40 / 40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theme/theme1.xml><?xml version="1.0" encoding="utf-8"?>
<a:theme xmlns:a="http://schemas.openxmlformats.org/drawingml/2006/main" name="dsh-ppt Data Drift">
  <a:themeElements>
    <a:clrScheme name="dsh-ppt">
      <a:dk1>
        <a:srgbClr val="E8F1FF"/>
      </a:dk1>
      <a:lt1>
        <a:srgbClr val="070B14"/>
      </a:lt1>
      <a:dk2>
        <a:srgbClr val="7E8BA8"/>
      </a:dk2>
      <a:lt2>
        <a:srgbClr val="0D1424"/>
      </a:lt2>
      <a:accent1>
        <a:srgbClr val="7C3AED"/>
      </a:accent1>
      <a:accent2>
        <a:srgbClr val="06B6D4"/>
      </a:accent2>
      <a:accent3>
        <a:srgbClr val="E8F1FF"/>
      </a:accent3>
      <a:accent4>
        <a:srgbClr val="7E8BA8"/>
      </a:accent4>
      <a:accent5>
        <a:srgbClr val="7C3AED"/>
      </a:accent5>
      <a:accent6>
        <a:srgbClr val="06B6D4"/>
      </a:accent6>
      <a:hlink>
        <a:srgbClr val="7C3AED"/>
      </a:hlink>
      <a:folHlink>
        <a:srgbClr val="06B6D4"/>
      </a:folHlink>
    </a:clrScheme>
    <a:fontScheme name="dsh-ppt">
      <a:majorFont>
        <a:latin typeface="Segoe UI"/>
        <a:ea typeface="Microsoft YaHei"/>
        <a:cs typeface=""/>
      </a:majorFont>
      <a:minorFont>
        <a:latin typeface="Segoe UI"/>
        <a:ea typeface="Microsoft YaHei"/>
        <a:cs typeface=""/>
      </a:minorFont>
    </a:fontScheme>
    <a:fmtScheme name="dsh-pp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dsh-ppt</Application>
  <PresentationFormat>Widescreen</PresentationFormat>
  <Slides>40</Slides>
  <Notes>36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广东工业大学计算机学院 优秀毕业生风采</dc:title>
  <dc:creator>dsh-ppt</dc:creator>
  <cp:lastModifiedBy>dsh-ppt</cp:lastModifiedBy>
</cp:coreProperties>
</file>